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3" r:id="rId3"/>
    <p:sldId id="257" r:id="rId4"/>
    <p:sldId id="27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345BC-B9B9-B946-BE4E-F4F3B4496DAA}" v="1" dt="2026-01-07T02:15:20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96301"/>
  </p:normalViewPr>
  <p:slideViewPr>
    <p:cSldViewPr snapToGrid="0" snapToObjects="1">
      <p:cViewPr varScale="1">
        <p:scale>
          <a:sx n="125" d="100"/>
          <a:sy n="125" d="100"/>
        </p:scale>
        <p:origin x="1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Holmes" userId="0d60a4ab-c45b-4e84-8ba2-8f5804476bf6" providerId="ADAL" clId="{B483F1CA-A614-57DF-BD19-C01EA7E87D86}"/>
    <pc:docChg chg="undo custSel modSld">
      <pc:chgData name="Christopher Holmes" userId="0d60a4ab-c45b-4e84-8ba2-8f5804476bf6" providerId="ADAL" clId="{B483F1CA-A614-57DF-BD19-C01EA7E87D86}" dt="2026-01-07T02:16:11.957" v="104" actId="20577"/>
      <pc:docMkLst>
        <pc:docMk/>
      </pc:docMkLst>
      <pc:sldChg chg="modSp mod">
        <pc:chgData name="Christopher Holmes" userId="0d60a4ab-c45b-4e84-8ba2-8f5804476bf6" providerId="ADAL" clId="{B483F1CA-A614-57DF-BD19-C01EA7E87D86}" dt="2026-01-07T02:15:20.073" v="95"/>
        <pc:sldMkLst>
          <pc:docMk/>
          <pc:sldMk cId="2064208489" sldId="257"/>
        </pc:sldMkLst>
        <pc:spChg chg="mod">
          <ac:chgData name="Christopher Holmes" userId="0d60a4ab-c45b-4e84-8ba2-8f5804476bf6" providerId="ADAL" clId="{B483F1CA-A614-57DF-BD19-C01EA7E87D86}" dt="2026-01-07T02:15:20.073" v="95"/>
          <ac:spMkLst>
            <pc:docMk/>
            <pc:sldMk cId="2064208489" sldId="257"/>
            <ac:spMk id="3" creationId="{00000000-0000-0000-0000-000000000000}"/>
          </ac:spMkLst>
        </pc:spChg>
      </pc:sldChg>
      <pc:sldChg chg="modSp mod">
        <pc:chgData name="Christopher Holmes" userId="0d60a4ab-c45b-4e84-8ba2-8f5804476bf6" providerId="ADAL" clId="{B483F1CA-A614-57DF-BD19-C01EA7E87D86}" dt="2026-01-07T02:16:11.957" v="104" actId="20577"/>
        <pc:sldMkLst>
          <pc:docMk/>
          <pc:sldMk cId="1982587936" sldId="272"/>
        </pc:sldMkLst>
        <pc:spChg chg="mod">
          <ac:chgData name="Christopher Holmes" userId="0d60a4ab-c45b-4e84-8ba2-8f5804476bf6" providerId="ADAL" clId="{B483F1CA-A614-57DF-BD19-C01EA7E87D86}" dt="2026-01-07T02:16:11.957" v="104" actId="20577"/>
          <ac:spMkLst>
            <pc:docMk/>
            <pc:sldMk cId="1982587936" sldId="272"/>
            <ac:spMk id="3" creationId="{00000000-0000-0000-0000-000000000000}"/>
          </ac:spMkLst>
        </pc:spChg>
      </pc:sldChg>
      <pc:sldChg chg="modSp mod">
        <pc:chgData name="Christopher Holmes" userId="0d60a4ab-c45b-4e84-8ba2-8f5804476bf6" providerId="ADAL" clId="{B483F1CA-A614-57DF-BD19-C01EA7E87D86}" dt="2026-01-07T02:14:24.647" v="70" actId="20577"/>
        <pc:sldMkLst>
          <pc:docMk/>
          <pc:sldMk cId="2743074456" sldId="273"/>
        </pc:sldMkLst>
        <pc:spChg chg="mod">
          <ac:chgData name="Christopher Holmes" userId="0d60a4ab-c45b-4e84-8ba2-8f5804476bf6" providerId="ADAL" clId="{B483F1CA-A614-57DF-BD19-C01EA7E87D86}" dt="2026-01-07T02:14:24.647" v="70" actId="20577"/>
          <ac:spMkLst>
            <pc:docMk/>
            <pc:sldMk cId="2743074456" sldId="273"/>
            <ac:spMk id="4" creationId="{9EE854CB-DC58-B3E8-E420-BF8A1BF5BB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30"/>
            <a:ext cx="10363200" cy="1470025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Blue Helvetica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1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  <a:lvl2pPr>
              <a:defRPr>
                <a:latin typeface="Helvetica" pitchFamily="2" charset="0"/>
              </a:defRPr>
            </a:lvl2pPr>
            <a:lvl3pPr>
              <a:defRPr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62FC9FC0-36EA-3B49-8BCE-9E0B45F56174}" type="datetimeFigureOut">
              <a:rPr lang="en-US" smtClean="0"/>
              <a:pPr/>
              <a:t>1/6/26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fld id="{5C06BFE9-DEC4-F04E-861D-1296A98615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4"/>
          </a:xfrm>
        </p:spPr>
        <p:txBody>
          <a:bodyPr anchor="t"/>
          <a:lstStyle>
            <a:lvl1pPr algn="l">
              <a:defRPr sz="4000" b="1" cap="all"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7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94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6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8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98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42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4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2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8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7060" y="0"/>
            <a:ext cx="11630781" cy="701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22477"/>
            <a:ext cx="10972800" cy="530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C9FC0-36EA-3B49-8BCE-9E0B45F5617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6BFE9-DEC4-F04E-861D-1296A9861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4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accent1">
              <a:lumMod val="75000"/>
            </a:schemeClr>
          </a:solidFill>
          <a:latin typeface="Helvetica" pitchFamily="2" charset="0"/>
          <a:ea typeface="+mj-ea"/>
          <a:cs typeface="Helvetica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Helvetica" pitchFamily="2" charset="0"/>
          <a:ea typeface="+mn-ea"/>
          <a:cs typeface="Helvetica" pitchFamily="2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C5C6-41C9-CC46-9E68-EAFFB87DD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 3220C: Meteorological Computations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95B0C-CF11-EA4E-961E-20DF79BFBF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27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5257-5CEC-5C2A-F7DD-C69A7A1E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computer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60C7F-3925-60D8-5739-9D7A97CF5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63" y="736968"/>
            <a:ext cx="10972800" cy="3549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Programs </a:t>
            </a:r>
            <a:r>
              <a:rPr lang="en-US" sz="2000" dirty="0"/>
              <a:t>tell a computer what to do</a:t>
            </a:r>
          </a:p>
          <a:p>
            <a:pPr marL="0" indent="0">
              <a:buNone/>
            </a:pPr>
            <a:r>
              <a:rPr lang="en-US" sz="2000" dirty="0"/>
              <a:t>	e.g. inputs, outputs, user interface, user interaction</a:t>
            </a:r>
          </a:p>
          <a:p>
            <a:pPr marL="0" indent="0">
              <a:buNone/>
            </a:pPr>
            <a:r>
              <a:rPr lang="en-US" sz="2000" dirty="0"/>
              <a:t>	programs contain </a:t>
            </a:r>
            <a:r>
              <a:rPr lang="en-US" sz="2000" b="1" dirty="0"/>
              <a:t>machine code</a:t>
            </a:r>
            <a:r>
              <a:rPr lang="en-US" sz="2000" dirty="0"/>
              <a:t> (binary 0’s and 1’s) that the hardware (CPU, GPU) can 	understand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Programming languages</a:t>
            </a:r>
            <a:r>
              <a:rPr lang="en-US" sz="2000" dirty="0"/>
              <a:t> (e.g. Python, </a:t>
            </a:r>
            <a:r>
              <a:rPr lang="en-US" sz="2000" dirty="0" err="1"/>
              <a:t>Matlab</a:t>
            </a:r>
            <a:r>
              <a:rPr lang="en-US" sz="2000" dirty="0"/>
              <a:t>, R, Java, Fortran, C++, Swift…) </a:t>
            </a:r>
          </a:p>
          <a:p>
            <a:pPr marL="0" indent="0">
              <a:buNone/>
            </a:pPr>
            <a:r>
              <a:rPr lang="en-US" sz="2000" dirty="0"/>
              <a:t>	provide notation for computer instructions that people can read and write (with training)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Interpreters</a:t>
            </a:r>
            <a:r>
              <a:rPr lang="en-US" sz="2000" dirty="0"/>
              <a:t> and </a:t>
            </a:r>
            <a:r>
              <a:rPr lang="en-US" sz="2000" b="1" dirty="0"/>
              <a:t>Compilers </a:t>
            </a:r>
            <a:r>
              <a:rPr lang="en-US" sz="2000" dirty="0"/>
              <a:t>translate programming languages into machine code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854CB-DC58-B3E8-E420-BF8A1BF5BB92}"/>
              </a:ext>
            </a:extLst>
          </p:cNvPr>
          <p:cNvSpPr txBox="1"/>
          <p:nvPr/>
        </p:nvSpPr>
        <p:spPr>
          <a:xfrm>
            <a:off x="1231400" y="5034475"/>
            <a:ext cx="2475358" cy="83099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Osaka" panose="020B0600000000000000" pitchFamily="34" charset="-128"/>
                <a:ea typeface="Osaka" panose="020B0600000000000000" pitchFamily="34" charset="-128"/>
                <a:cs typeface="Avenir Next Regular"/>
              </a:rPr>
              <a:t>function multiply(x, y):</a:t>
            </a:r>
          </a:p>
          <a:p>
            <a:pPr algn="l"/>
            <a:r>
              <a:rPr lang="en-US" sz="1600" dirty="0">
                <a:latin typeface="Osaka" panose="020B0600000000000000" pitchFamily="34" charset="-128"/>
                <a:ea typeface="Osaka" panose="020B0600000000000000" pitchFamily="34" charset="-128"/>
                <a:cs typeface="Avenir Next Regular"/>
              </a:rPr>
              <a:t>	return x * y</a:t>
            </a:r>
          </a:p>
          <a:p>
            <a:pPr algn="l"/>
            <a:r>
              <a:rPr lang="en-US" sz="1600" dirty="0">
                <a:latin typeface="Osaka" panose="020B0600000000000000" pitchFamily="34" charset="-128"/>
                <a:ea typeface="Osaka" panose="020B0600000000000000" pitchFamily="34" charset="-128"/>
                <a:cs typeface="Avenir Next Regular"/>
              </a:rPr>
              <a:t>result = multiply( 3, 5 )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0B374-19E5-3F1C-AC8B-6B675310146D}"/>
              </a:ext>
            </a:extLst>
          </p:cNvPr>
          <p:cNvSpPr txBox="1"/>
          <p:nvPr/>
        </p:nvSpPr>
        <p:spPr>
          <a:xfrm>
            <a:off x="8683419" y="5034475"/>
            <a:ext cx="1838965" cy="120032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ndale Mono" panose="020B0509000000000004" pitchFamily="49" charset="0"/>
                <a:cs typeface="Avenir Next Regular"/>
              </a:rPr>
              <a:t>001101000111</a:t>
            </a:r>
          </a:p>
          <a:p>
            <a:pPr algn="l"/>
            <a:r>
              <a:rPr lang="en-US" dirty="0">
                <a:latin typeface="Andale Mono" panose="020B0509000000000004" pitchFamily="49" charset="0"/>
                <a:cs typeface="Avenir Next Regular"/>
              </a:rPr>
              <a:t>110101010111</a:t>
            </a:r>
          </a:p>
          <a:p>
            <a:pPr algn="l"/>
            <a:r>
              <a:rPr lang="en-US" dirty="0">
                <a:latin typeface="Andale Mono" panose="020B0509000000000004" pitchFamily="49" charset="0"/>
                <a:cs typeface="Avenir Next Regular"/>
              </a:rPr>
              <a:t>000011010101</a:t>
            </a:r>
          </a:p>
          <a:p>
            <a:pPr algn="l"/>
            <a:r>
              <a:rPr lang="en-US" dirty="0">
                <a:latin typeface="Andale Mono" panose="020B0509000000000004" pitchFamily="49" charset="0"/>
                <a:cs typeface="Avenir Next Regular"/>
              </a:rPr>
              <a:t>101111101110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8AF72-037A-BF0C-5D21-3837A842855B}"/>
              </a:ext>
            </a:extLst>
          </p:cNvPr>
          <p:cNvSpPr txBox="1"/>
          <p:nvPr/>
        </p:nvSpPr>
        <p:spPr>
          <a:xfrm>
            <a:off x="1156198" y="4728856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Helvetica" pitchFamily="2" charset="0"/>
                <a:cs typeface="Avenir Next Regular"/>
              </a:rPr>
              <a:t>Programming Language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1A4F5-6CAF-42EF-11C1-DB5137226B23}"/>
              </a:ext>
            </a:extLst>
          </p:cNvPr>
          <p:cNvSpPr txBox="1"/>
          <p:nvPr/>
        </p:nvSpPr>
        <p:spPr>
          <a:xfrm>
            <a:off x="8728302" y="4728856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latin typeface="Helvetica" pitchFamily="2" charset="0"/>
                <a:cs typeface="Avenir Next Regular"/>
              </a:rPr>
              <a:t>Machine Code</a:t>
            </a:r>
            <a:endParaRPr lang="en-US" b="1" dirty="0">
              <a:latin typeface="Helvetica" pitchFamily="2" charset="0"/>
              <a:cs typeface="Avenir Next Regular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B88D9A8-48FE-53C8-B4BD-6568A739CBEC}"/>
              </a:ext>
            </a:extLst>
          </p:cNvPr>
          <p:cNvSpPr/>
          <p:nvPr/>
        </p:nvSpPr>
        <p:spPr>
          <a:xfrm>
            <a:off x="5289160" y="5213644"/>
            <a:ext cx="694063" cy="74840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DD6E5F4-AC26-1AA0-32E9-9E96B9FEA673}"/>
              </a:ext>
            </a:extLst>
          </p:cNvPr>
          <p:cNvSpPr/>
          <p:nvPr/>
        </p:nvSpPr>
        <p:spPr>
          <a:xfrm>
            <a:off x="6071180" y="5213644"/>
            <a:ext cx="694063" cy="74840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7B4BC-7EAF-82ED-7625-BD6B9F814803}"/>
              </a:ext>
            </a:extLst>
          </p:cNvPr>
          <p:cNvSpPr txBox="1"/>
          <p:nvPr/>
        </p:nvSpPr>
        <p:spPr>
          <a:xfrm>
            <a:off x="4806099" y="4863458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Helvetica" pitchFamily="2" charset="0"/>
                <a:cs typeface="Avenir Next Regular"/>
              </a:rPr>
              <a:t>Interpreter </a:t>
            </a:r>
            <a:r>
              <a:rPr lang="en-US" dirty="0">
                <a:latin typeface="Helvetica" pitchFamily="2" charset="0"/>
                <a:cs typeface="Avenir Next Regular"/>
              </a:rPr>
              <a:t>or</a:t>
            </a:r>
            <a:r>
              <a:rPr lang="en-US" b="1" dirty="0">
                <a:latin typeface="Helvetica" pitchFamily="2" charset="0"/>
                <a:cs typeface="Avenir Next Regular"/>
              </a:rPr>
              <a:t> Compiler</a:t>
            </a:r>
          </a:p>
        </p:txBody>
      </p:sp>
    </p:spTree>
    <p:extLst>
      <p:ext uri="{BB962C8B-B14F-4D97-AF65-F5344CB8AC3E}">
        <p14:creationId xmlns:p14="http://schemas.microsoft.com/office/powerpoint/2010/main" val="274307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programming, automating tasks, interactive websites</a:t>
            </a:r>
          </a:p>
          <a:p>
            <a:r>
              <a:rPr lang="en-US" dirty="0"/>
              <a:t>Analyzing and visualizing datasets</a:t>
            </a:r>
          </a:p>
          <a:p>
            <a:r>
              <a:rPr lang="en-US" dirty="0"/>
              <a:t>Numerical modeling and simulation</a:t>
            </a:r>
          </a:p>
          <a:p>
            <a:r>
              <a:rPr lang="en-US" dirty="0"/>
              <a:t>Many, many mathematical functions built in (unlike C++, Java, Fortran)</a:t>
            </a:r>
          </a:p>
          <a:p>
            <a:r>
              <a:rPr lang="en-US" dirty="0"/>
              <a:t>Ideal for interactive analysis, but slower than compiled languages (e.g. Fortran, C++) for very large tasks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55" y="3603507"/>
            <a:ext cx="4176889" cy="32544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00" y="3871619"/>
            <a:ext cx="5174954" cy="27446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2373" y="3603507"/>
            <a:ext cx="2169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elvetica" pitchFamily="2" charset="0"/>
                <a:cs typeface="Avenir Next Regular"/>
              </a:rPr>
              <a:t>Ship </a:t>
            </a:r>
            <a:r>
              <a:rPr lang="en-US" sz="1600" b="1" dirty="0" err="1">
                <a:latin typeface="Helvetica" pitchFamily="2" charset="0"/>
                <a:cs typeface="Avenir Next Regular"/>
              </a:rPr>
              <a:t>NOx</a:t>
            </a:r>
            <a:r>
              <a:rPr lang="en-US" sz="1600" b="1" dirty="0">
                <a:latin typeface="Helvetica" pitchFamily="2" charset="0"/>
                <a:cs typeface="Avenir Next Regular"/>
              </a:rPr>
              <a:t> emissions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43929-8685-544D-AAB7-7DEF3C1D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0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rather than </a:t>
            </a:r>
            <a:r>
              <a:rPr lang="en-US" dirty="0" err="1"/>
              <a:t>Matlab</a:t>
            </a:r>
            <a:r>
              <a:rPr lang="en-US" dirty="0"/>
              <a:t>, Fortran, Java, etc.?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is free and open-source software, meaning that anyone can use and modify it at no cost</a:t>
            </a:r>
          </a:p>
          <a:p>
            <a:endParaRPr lang="en-US" dirty="0"/>
          </a:p>
          <a:p>
            <a:r>
              <a:rPr lang="en-US" dirty="0"/>
              <a:t>Easy to </a:t>
            </a:r>
            <a:r>
              <a:rPr lang="en-US"/>
              <a:t>learn and powerful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Used in many science and technology fields</a:t>
            </a:r>
          </a:p>
          <a:p>
            <a:endParaRPr lang="en-US" dirty="0"/>
          </a:p>
          <a:p>
            <a:r>
              <a:rPr lang="en-US" dirty="0"/>
              <a:t>Many pre-existing, free modules for advanced tasks like mapping, statistics, machine learning</a:t>
            </a:r>
          </a:p>
          <a:p>
            <a:endParaRPr lang="en-US" dirty="0"/>
          </a:p>
          <a:p>
            <a:r>
              <a:rPr lang="en-US" dirty="0"/>
              <a:t>Interfaces well with web and databases</a:t>
            </a:r>
          </a:p>
          <a:p>
            <a:endParaRPr lang="en-US" dirty="0"/>
          </a:p>
          <a:p>
            <a:r>
              <a:rPr lang="en-US" dirty="0"/>
              <a:t>In-demand by employers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6ED1-965F-A549-95A7-357656EB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BFE9-DEC4-F04E-861D-1296A9861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87936"/>
      </p:ext>
    </p:extLst>
  </p:cSld>
  <p:clrMapOvr>
    <a:masterClrMapping/>
  </p:clrMapOvr>
</p:sld>
</file>

<file path=ppt/theme/theme1.xml><?xml version="1.0" encoding="utf-8"?>
<a:theme xmlns:a="http://schemas.openxmlformats.org/drawingml/2006/main" name="BlueAveni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/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>
            <a:latin typeface="Helvetica" pitchFamily="2" charset="0"/>
            <a:cs typeface="Avenir Next Regula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FCF7A583-5742-C647-B5B6-EB5D5811B21F}" vid="{4955EF9E-1E00-9545-ADC8-C1B96BC116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BlueAvenir</Template>
  <TotalTime>623</TotalTime>
  <Words>260</Words>
  <Application>Microsoft Macintosh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Osaka</vt:lpstr>
      <vt:lpstr>Andale Mono</vt:lpstr>
      <vt:lpstr>Arial</vt:lpstr>
      <vt:lpstr>Calibri</vt:lpstr>
      <vt:lpstr>Helvetica</vt:lpstr>
      <vt:lpstr>BlueAvenir</vt:lpstr>
      <vt:lpstr>MET 3220C: Meteorological Computations</vt:lpstr>
      <vt:lpstr>What is computer programming?</vt:lpstr>
      <vt:lpstr>What is Python for?</vt:lpstr>
      <vt:lpstr>Why Python rather than Matlab, Fortran, Java, etc.?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Holmes</dc:creator>
  <cp:lastModifiedBy>Christopher Holmes</cp:lastModifiedBy>
  <cp:revision>65</cp:revision>
  <dcterms:created xsi:type="dcterms:W3CDTF">2025-01-06T12:48:08Z</dcterms:created>
  <dcterms:modified xsi:type="dcterms:W3CDTF">2026-01-07T02:16:12Z</dcterms:modified>
</cp:coreProperties>
</file>