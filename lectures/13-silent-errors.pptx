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60" r:id="rId4"/>
    <p:sldId id="261" r:id="rId5"/>
    <p:sldId id="262" r:id="rId6"/>
    <p:sldId id="257" r:id="rId7"/>
    <p:sldId id="264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533251-0EEC-B14E-962A-12EBD77F3BBB}" v="170" dt="2026-04-08T08:23:16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47"/>
    <p:restoredTop sz="94551"/>
  </p:normalViewPr>
  <p:slideViewPr>
    <p:cSldViewPr snapToGrid="0" snapToObjects="1">
      <p:cViewPr varScale="1">
        <p:scale>
          <a:sx n="87" d="100"/>
          <a:sy n="87" d="100"/>
        </p:scale>
        <p:origin x="216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30"/>
            <a:ext cx="10363200" cy="1470025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US" dirty="0"/>
              <a:t>Blue Helvetica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18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  <a:lvl2pPr>
              <a:defRPr>
                <a:latin typeface="Helvetica" pitchFamily="2" charset="0"/>
              </a:defRPr>
            </a:lvl2pPr>
            <a:lvl3pPr>
              <a:defRPr>
                <a:latin typeface="Helvetica" pitchFamily="2" charset="0"/>
              </a:defRPr>
            </a:lvl3pPr>
            <a:lvl4pPr>
              <a:defRPr>
                <a:latin typeface="Helvetica" pitchFamily="2" charset="0"/>
              </a:defRPr>
            </a:lvl4pPr>
            <a:lvl5pPr>
              <a:defRPr>
                <a:latin typeface="Helvetic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fld id="{62FC9FC0-36EA-3B49-8BCE-9E0B45F56174}" type="datetimeFigureOut">
              <a:rPr lang="en-US" smtClean="0"/>
              <a:pPr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fld id="{5C06BFE9-DEC4-F04E-861D-1296A98615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0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4"/>
          </a:xfrm>
        </p:spPr>
        <p:txBody>
          <a:bodyPr anchor="t"/>
          <a:lstStyle>
            <a:lvl1pPr algn="l">
              <a:defRPr sz="4000" b="1" cap="all"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7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4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6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89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8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98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2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42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2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4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2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8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7060" y="0"/>
            <a:ext cx="11630781" cy="701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22477"/>
            <a:ext cx="10972800" cy="5303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C9FC0-36EA-3B49-8BCE-9E0B45F5617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4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i="0" kern="1200">
          <a:solidFill>
            <a:schemeClr val="accent1">
              <a:lumMod val="75000"/>
            </a:schemeClr>
          </a:solidFill>
          <a:latin typeface="Helvetica" pitchFamily="2" charset="0"/>
          <a:ea typeface="+mj-ea"/>
          <a:cs typeface="Helvetica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C5C6-41C9-CC46-9E68-EAFFB87DD3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Silent Errors and Critical Code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95B0C-CF11-EA4E-961E-20DF79BFBF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7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E023-DBFD-5756-09FB-3BFC93CA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60" y="0"/>
            <a:ext cx="11630781" cy="707571"/>
          </a:xfrm>
        </p:spPr>
        <p:txBody>
          <a:bodyPr>
            <a:normAutofit/>
          </a:bodyPr>
          <a:lstStyle/>
          <a:p>
            <a:r>
              <a:rPr lang="en-US" dirty="0"/>
              <a:t>Silent Errors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B0F920-642C-0140-793C-FA7B5ED76AB0}"/>
              </a:ext>
            </a:extLst>
          </p:cNvPr>
          <p:cNvSpPr txBox="1"/>
          <p:nvPr/>
        </p:nvSpPr>
        <p:spPr>
          <a:xfrm>
            <a:off x="762002" y="957942"/>
            <a:ext cx="980108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atin typeface="Helvetica" pitchFamily="2" charset="0"/>
                <a:cs typeface="Avenir Next Regular"/>
              </a:rPr>
              <a:t>What are they?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Code runs completely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Generates desired output (e.g. numbers, tables or figures)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Results are </a:t>
            </a:r>
            <a:r>
              <a:rPr lang="en-US" sz="2400" i="1" dirty="0">
                <a:latin typeface="Helvetica" pitchFamily="2" charset="0"/>
                <a:cs typeface="Avenir Next Regular"/>
              </a:rPr>
              <a:t>wrong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i="1" dirty="0">
              <a:latin typeface="Helvetica" pitchFamily="2" charset="0"/>
              <a:cs typeface="Avenir Next Regula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More dangerous than syntax errors, because Python won’t flag them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>
              <a:latin typeface="Helvetica" pitchFamily="2" charset="0"/>
              <a:cs typeface="Avenir Next Regular"/>
            </a:endParaRPr>
          </a:p>
          <a:p>
            <a:pPr algn="l"/>
            <a:r>
              <a:rPr lang="en-US" sz="2400" b="1" dirty="0">
                <a:latin typeface="Helvetica" pitchFamily="2" charset="0"/>
                <a:cs typeface="Avenir Next Regular"/>
              </a:rPr>
              <a:t>Causes of silent errors that we have encountered in this course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Handling or ignoring missing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Mean vs sum when aggregating over time or space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Months with different numbers of days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Weighted vs unweighted averages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cs typeface="Avenir Next Regular"/>
              </a:rPr>
              <a:t>Anomalies vs raw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latin typeface="Helvetica" pitchFamily="2" charset="0"/>
              <a:cs typeface="Avenir Nex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88898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FF17-5732-EB05-FD57-55F19E8F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average from gridded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00A27D-F9FE-B968-2547-8AFABEAB5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967" y="701524"/>
            <a:ext cx="7628064" cy="423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AABE8B-94FC-4FE3-F3B1-ADCEF0921F88}"/>
              </a:ext>
            </a:extLst>
          </p:cNvPr>
          <p:cNvSpPr txBox="1"/>
          <p:nvPr/>
        </p:nvSpPr>
        <p:spPr>
          <a:xfrm>
            <a:off x="3509918" y="5045217"/>
            <a:ext cx="571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 err="1">
                <a:latin typeface="Monaco" pitchFamily="2" charset="77"/>
                <a:cs typeface="Avenir Next Regular"/>
              </a:rPr>
              <a:t>data.mean</a:t>
            </a:r>
            <a:r>
              <a:rPr lang="en-US" sz="2400" dirty="0">
                <a:latin typeface="Monaco" pitchFamily="2" charset="77"/>
                <a:cs typeface="Avenir Next Regular"/>
              </a:rPr>
              <a:t>( dim=[‘</a:t>
            </a:r>
            <a:r>
              <a:rPr lang="en-US" sz="2400" dirty="0" err="1">
                <a:latin typeface="Monaco" pitchFamily="2" charset="77"/>
                <a:cs typeface="Avenir Next Regular"/>
              </a:rPr>
              <a:t>lat</a:t>
            </a:r>
            <a:r>
              <a:rPr lang="en-US" sz="2400" dirty="0">
                <a:latin typeface="Monaco" pitchFamily="2" charset="77"/>
                <a:cs typeface="Avenir Next Regular"/>
              </a:rPr>
              <a:t>’,’</a:t>
            </a:r>
            <a:r>
              <a:rPr lang="en-US" sz="2400" dirty="0" err="1">
                <a:latin typeface="Monaco" pitchFamily="2" charset="77"/>
                <a:cs typeface="Avenir Next Regular"/>
              </a:rPr>
              <a:t>lon</a:t>
            </a:r>
            <a:r>
              <a:rPr lang="en-US" sz="2400" dirty="0">
                <a:latin typeface="Monaco" pitchFamily="2" charset="77"/>
                <a:cs typeface="Avenir Next Regular"/>
              </a:rPr>
              <a:t>’]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38852-3CEB-F286-C2ED-97E58DD8128F}"/>
              </a:ext>
            </a:extLst>
          </p:cNvPr>
          <p:cNvSpPr txBox="1"/>
          <p:nvPr/>
        </p:nvSpPr>
        <p:spPr>
          <a:xfrm>
            <a:off x="5595258" y="5642072"/>
            <a:ext cx="61670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" pitchFamily="2" charset="0"/>
                <a:cs typeface="Avenir Next Regular"/>
              </a:rPr>
              <a:t>Assumes that all grid cells contribute equally to average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00000"/>
                </a:solidFill>
                <a:latin typeface="Helvetica" pitchFamily="2" charset="0"/>
                <a:cs typeface="Avenir Next Regular"/>
              </a:rPr>
              <a:t>Overweights</a:t>
            </a:r>
            <a:r>
              <a:rPr lang="en-US" dirty="0">
                <a:solidFill>
                  <a:srgbClr val="C00000"/>
                </a:solidFill>
                <a:latin typeface="Helvetica" pitchFamily="2" charset="0"/>
                <a:cs typeface="Avenir Next Regular"/>
              </a:rPr>
              <a:t> polar grid cells, which are actually small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" pitchFamily="2" charset="0"/>
                <a:cs typeface="Avenir Next Regular"/>
              </a:rPr>
              <a:t>Biased result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" pitchFamily="2" charset="0"/>
                <a:cs typeface="Avenir Next Regular"/>
              </a:rPr>
              <a:t>Use area weighting by cos( </a:t>
            </a:r>
            <a:r>
              <a:rPr lang="en-US" dirty="0" err="1">
                <a:solidFill>
                  <a:srgbClr val="C00000"/>
                </a:solidFill>
                <a:latin typeface="Helvetica" pitchFamily="2" charset="0"/>
                <a:cs typeface="Avenir Next Regular"/>
              </a:rPr>
              <a:t>lat</a:t>
            </a:r>
            <a:r>
              <a:rPr lang="en-US" dirty="0">
                <a:solidFill>
                  <a:srgbClr val="C00000"/>
                </a:solidFill>
                <a:latin typeface="Helvetica" pitchFamily="2" charset="0"/>
                <a:cs typeface="Avenir Next Regular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71531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6E1C-57E1-A239-5F9D-86914593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silent errors with extensive sanity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2A3B9-CA81-896B-5482-45499DEF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8185" y="777155"/>
            <a:ext cx="9655629" cy="530369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Order of magnitude checks</a:t>
            </a:r>
          </a:p>
          <a:p>
            <a:r>
              <a:rPr lang="en-US" dirty="0"/>
              <a:t>Print minimum, maximum, median, fraction of data missing</a:t>
            </a:r>
          </a:p>
          <a:p>
            <a:r>
              <a:rPr lang="en-US" dirty="0"/>
              <a:t>Is magnitude consistent with expectation and prior studies?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Physical constraints</a:t>
            </a:r>
          </a:p>
          <a:p>
            <a:r>
              <a:rPr lang="en-US" dirty="0"/>
              <a:t>Some variables should never be negative (e.g. precipitation)</a:t>
            </a:r>
          </a:p>
          <a:p>
            <a:r>
              <a:rPr lang="en-US" dirty="0"/>
              <a:t>Seasonal cycle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Programming checks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Visualize or print intermediate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result to simplified calculation</a:t>
            </a:r>
          </a:p>
        </p:txBody>
      </p:sp>
    </p:spTree>
    <p:extLst>
      <p:ext uri="{BB962C8B-B14F-4D97-AF65-F5344CB8AC3E}">
        <p14:creationId xmlns:p14="http://schemas.microsoft.com/office/powerpoint/2010/main" val="47235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13F29-10D5-DA91-AF87-F6041E6A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Global mean sea-surface temperature with OISST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42CA3-2B3C-1AD8-6704-16633902E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C9C2E8-7898-C15C-F418-CC66E7604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29" y="1783455"/>
            <a:ext cx="4244471" cy="33372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2C77A3-7010-22C8-FF2C-5E296736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Annual Precipitation for 2005 from NARR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8FB709-36E8-BA6D-8E4D-A8E533DE5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230" y="1783455"/>
            <a:ext cx="4163469" cy="3337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0AE18-FCA4-C0F4-F85B-F1BB17BD6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0903" y="1783455"/>
            <a:ext cx="4098668" cy="3337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3FF750-6F9B-BB43-99C7-50C285DA373A}"/>
              </a:ext>
            </a:extLst>
          </p:cNvPr>
          <p:cNvSpPr txBox="1"/>
          <p:nvPr/>
        </p:nvSpPr>
        <p:spPr>
          <a:xfrm>
            <a:off x="899652" y="989634"/>
            <a:ext cx="11018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" pitchFamily="2" charset="0"/>
                <a:cs typeface="Avenir Next Regular"/>
              </a:rPr>
              <a:t>You are reviewing figures produced by classmates. All three claim to show annual precipitation for 2005.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7FE3D-0193-986A-132F-71E92C77AE02}"/>
              </a:ext>
            </a:extLst>
          </p:cNvPr>
          <p:cNvSpPr txBox="1"/>
          <p:nvPr/>
        </p:nvSpPr>
        <p:spPr>
          <a:xfrm>
            <a:off x="1651819" y="5353471"/>
            <a:ext cx="5827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" pitchFamily="2" charset="0"/>
                <a:cs typeface="Avenir Next Regular"/>
              </a:rPr>
              <a:t>Which one do you trust more and why?</a:t>
            </a:r>
          </a:p>
          <a:p>
            <a:pPr algn="l"/>
            <a:r>
              <a:rPr lang="en-US" dirty="0">
                <a:latin typeface="Helvetica" pitchFamily="2" charset="0"/>
                <a:cs typeface="Avenir Next Regular"/>
              </a:rPr>
              <a:t>What tests would you use to increase your confidence?</a:t>
            </a:r>
          </a:p>
        </p:txBody>
      </p:sp>
    </p:spTree>
    <p:extLst>
      <p:ext uri="{BB962C8B-B14F-4D97-AF65-F5344CB8AC3E}">
        <p14:creationId xmlns:p14="http://schemas.microsoft.com/office/powerpoint/2010/main" val="212480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EAC8-F20C-8D90-8EBA-D1F9EA9E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Generative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63AFD-0C60-DB03-86CB-B43FDFA05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 2 is generated by an AI, which explains its reasoning: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“The annual precipitation is computed by summing the monthly means, which is appropriate because the data are monthly averages.”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Evaluate this justification: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correct or misleading?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it sound correct?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6C0C96-3E9C-848E-1B44-84665B3F1879}"/>
              </a:ext>
            </a:extLst>
          </p:cNvPr>
          <p:cNvSpPr txBox="1"/>
          <p:nvPr/>
        </p:nvSpPr>
        <p:spPr>
          <a:xfrm>
            <a:off x="2861187" y="65040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dirty="0">
              <a:latin typeface="Helvetica" pitchFamily="2" charset="0"/>
              <a:cs typeface="Avenir Nex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25562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FC2D-2154-7B0A-1897-E492E8E2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</a:t>
            </a:r>
            <a:r>
              <a:rPr lang="en-US" i="1" dirty="0"/>
              <a:t>increases </a:t>
            </a:r>
            <a:r>
              <a:rPr lang="en-US" dirty="0"/>
              <a:t>the risk of silent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CC545-C702-7D8D-BE75-7279A5BB7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5" y="866020"/>
            <a:ext cx="10189028" cy="56980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LLMs are very good at…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Writing plausible code that runs without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commands that may be unfamiliar or complex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Writing confident explanations, even when incorrect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LLMs are less good 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Knowing your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Identifying necessary assumptions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Recognizing implausible results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“Vibe coding” for scientific applications is risky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Reviewing AI-generated code is essential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Treat output as a rough draft for consideration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Skepticism and critical evaluation key</a:t>
            </a:r>
          </a:p>
        </p:txBody>
      </p:sp>
    </p:spTree>
    <p:extLst>
      <p:ext uri="{BB962C8B-B14F-4D97-AF65-F5344CB8AC3E}">
        <p14:creationId xmlns:p14="http://schemas.microsoft.com/office/powerpoint/2010/main" val="371949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2182-ACED-935A-1DFD-CF8FC61E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Demands of scientific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6DA42-DEA8-176F-B6B6-043FF2636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i="1" dirty="0"/>
              <a:t>Correct code is necessary, but not sufficient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Scientific programming requires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Physical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Defensible programming choices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judgment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i="1" dirty="0"/>
              <a:t>Your job is not to make plot and tables.</a:t>
            </a:r>
          </a:p>
          <a:p>
            <a:pPr marL="0" indent="0" algn="ctr">
              <a:buNone/>
            </a:pPr>
            <a:r>
              <a:rPr lang="en-US" b="1" i="1" dirty="0"/>
              <a:t>Your job is to decide when to trust them.</a:t>
            </a:r>
          </a:p>
        </p:txBody>
      </p:sp>
    </p:spTree>
    <p:extLst>
      <p:ext uri="{BB962C8B-B14F-4D97-AF65-F5344CB8AC3E}">
        <p14:creationId xmlns:p14="http://schemas.microsoft.com/office/powerpoint/2010/main" val="2347916989"/>
      </p:ext>
    </p:extLst>
  </p:cSld>
  <p:clrMapOvr>
    <a:masterClrMapping/>
  </p:clrMapOvr>
</p:sld>
</file>

<file path=ppt/theme/theme1.xml><?xml version="1.0" encoding="utf-8"?>
<a:theme xmlns:a="http://schemas.openxmlformats.org/drawingml/2006/main" name="BlueAveni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/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>
            <a:latin typeface="Helvetica" pitchFamily="2" charset="0"/>
            <a:cs typeface="Avenir Next Regular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FCF7A583-5742-C647-B5B6-EB5D5811B21F}" vid="{4955EF9E-1E00-9545-ADC8-C1B96BC116A2}"/>
    </a:ext>
  </a:extLst>
</a:theme>
</file>

<file path=docMetadata/LabelInfo.xml><?xml version="1.0" encoding="utf-8"?>
<clbl:labelList xmlns:clbl="http://schemas.microsoft.com/office/2020/mipLabelMetadata">
  <clbl:label id="{a36450eb-db06-42a7-8d1b-026719f701e3}" enabled="0" method="" siteId="{a36450eb-db06-42a7-8d1b-026719f701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BlueAvenir</Template>
  <TotalTime>383</TotalTime>
  <Words>414</Words>
  <Application>Microsoft Macintosh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Helvetica</vt:lpstr>
      <vt:lpstr>Monaco</vt:lpstr>
      <vt:lpstr>BlueAvenir</vt:lpstr>
      <vt:lpstr>Silent Errors and Critical Code Review</vt:lpstr>
      <vt:lpstr>Silent Errors</vt:lpstr>
      <vt:lpstr>Global average from gridded data</vt:lpstr>
      <vt:lpstr>Avoid silent errors with extensive sanity checks</vt:lpstr>
      <vt:lpstr>Example: Global mean sea-surface temperature with OISST data</vt:lpstr>
      <vt:lpstr>Exercise: Annual Precipitation for 2005 from NARR</vt:lpstr>
      <vt:lpstr>Evaluating Generative AI </vt:lpstr>
      <vt:lpstr>Generative AI increases the risk of silent errors</vt:lpstr>
      <vt:lpstr>Demands of scientific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Holmes</dc:creator>
  <cp:lastModifiedBy>Christopher Holmes</cp:lastModifiedBy>
  <cp:revision>1</cp:revision>
  <dcterms:created xsi:type="dcterms:W3CDTF">2026-04-08T01:59:51Z</dcterms:created>
  <dcterms:modified xsi:type="dcterms:W3CDTF">2026-04-08T08:23:23Z</dcterms:modified>
</cp:coreProperties>
</file>